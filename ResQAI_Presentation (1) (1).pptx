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8A4984-3159-4B3B-BEDB-8E670993FE7C}">
  <a:tblStyle styleId="{C58A4984-3159-4B3B-BEDB-8E670993FE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yourself, the project title and guide. Replace the bracketed placeholders (name, register number, college, guide) before presenting. The phone graphic is a concept illustration, not an app screenshot.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disaster response, list the typical citizen problems, then explain why a mobile app helps. Finish with the five objectives.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conceptual overview of the technology areas behind the project. It is not a formal systematic literature survey and does not cite specific research papers.</a:t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Contrast the before and proposed situations. Be explicit that ResQAI is not claimed to be connected to police, ambulance, fire or government systems.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top to bottom: user, Flutter app, navigation layer, three functional areas, supporting packages. The amber dashed box is future work only; no live connection to emergency services is claimed.</a:t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modules. The 'seen in the UI' boxes describe elements visible in the supplied screenshots only. Whether each behaviour works end to end still needs verification.</a:t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the toolchain and development process. The screenshots show a debug build running, but full functional validation (especially on a physical Android device) is not claimed.</a:t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Screenshots are the real app captures (two Flutter app screens and the web command-center dashboard), shown at their original proportions. The status chips are conservative: update them to match what you have actually tested. The dashboard figures (teams, ambulances, AI summary) should be described as prototype/demo data unless they come from live sources.</a:t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Summarise what has been built, then walk the roadmap: foundation, testing, integration, future improvements.</a:t>
            </a:r>
            <a:endParaRPr/>
          </a:p>
        </p:txBody>
      </p:sp>
      <p:sp>
        <p:nvSpPr>
          <p:cNvPr id="289" name="Google Shape;2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 are limited to the technologies and concepts used in the deck. No papers, authors or findings have been invented.</a:t>
            </a:r>
            <a:endParaRPr/>
          </a:p>
        </p:txBody>
      </p:sp>
      <p:sp>
        <p:nvSpPr>
          <p:cNvPr id="311" name="Google Shape;3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731520" y="1280160"/>
            <a:ext cx="7223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  <a:defRPr b="1" i="0" sz="3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  <a:defRPr b="1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ResQAI – Intelligent Disaster Response Citizen 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flutter.dev/" TargetMode="External"/><Relationship Id="rId4" Type="http://schemas.openxmlformats.org/officeDocument/2006/relationships/hyperlink" Target="https://dart.dev/" TargetMode="External"/><Relationship Id="rId10" Type="http://schemas.openxmlformats.org/officeDocument/2006/relationships/image" Target="../media/image19.png"/><Relationship Id="rId9" Type="http://schemas.openxmlformats.org/officeDocument/2006/relationships/hyperlink" Target="https://www.undrr.org/" TargetMode="External"/><Relationship Id="rId5" Type="http://schemas.openxmlformats.org/officeDocument/2006/relationships/hyperlink" Target="https://riverpod.dev/" TargetMode="External"/><Relationship Id="rId6" Type="http://schemas.openxmlformats.org/officeDocument/2006/relationships/hyperlink" Target="https://pub.dev/packages/geolocator" TargetMode="External"/><Relationship Id="rId7" Type="http://schemas.openxmlformats.org/officeDocument/2006/relationships/hyperlink" Target="https://pub.dev/packages/go_router" TargetMode="External"/><Relationship Id="rId8" Type="http://schemas.openxmlformats.org/officeDocument/2006/relationships/hyperlink" Target="https://pub.dev/packages/d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/>
        </p:nvSpPr>
        <p:spPr>
          <a:xfrm>
            <a:off x="731520" y="777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COLLEGE PROJECT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31520" y="1280160"/>
            <a:ext cx="7223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ResQAI – Intelligent Disaster Response Citizen Application</a:t>
            </a:r>
            <a:endParaRPr sz="3800"/>
          </a:p>
        </p:txBody>
      </p:sp>
      <p:sp>
        <p:nvSpPr>
          <p:cNvPr id="25" name="Google Shape;25;p5"/>
          <p:cNvSpPr txBox="1"/>
          <p:nvPr/>
        </p:nvSpPr>
        <p:spPr>
          <a:xfrm>
            <a:off x="731520" y="3429000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Connecting Citizens with Smarter Emergency Workflows.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731520" y="4206240"/>
            <a:ext cx="7223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Student: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SAISANJAY SS - 240701458</a:t>
            </a:r>
            <a:b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       BALAJI S - 240701069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Department: 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Computer Science and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College: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Rajalakshmi Engineering College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Project guide: 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Mrs B.Deepa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Assistant Professor( SG)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5" title="Screenshot 2026-10-20 at 12.15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1505" y="449550"/>
            <a:ext cx="2712719" cy="5958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INTRODUCTION</a:t>
            </a:r>
            <a:endParaRPr sz="2600"/>
          </a:p>
        </p:txBody>
      </p:sp>
      <p:sp>
        <p:nvSpPr>
          <p:cNvPr id="34" name="Google Shape;34;p6"/>
          <p:cNvSpPr/>
          <p:nvPr/>
        </p:nvSpPr>
        <p:spPr>
          <a:xfrm>
            <a:off x="548640" y="1234440"/>
            <a:ext cx="3566160" cy="1874520"/>
          </a:xfrm>
          <a:prstGeom prst="roundRect">
            <a:avLst>
              <a:gd fmla="val 3902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lobe icon"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999" y="15480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/>
          <p:nvPr/>
        </p:nvSpPr>
        <p:spPr>
          <a:xfrm>
            <a:off x="1417320" y="1463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Disaster 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777240" y="21031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Coordinated actions to protect people before, during and after an emergency.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297680" y="1234440"/>
            <a:ext cx="3566160" cy="1874520"/>
          </a:xfrm>
          <a:prstGeom prst="roundRect">
            <a:avLst>
              <a:gd fmla="val 3902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4526280" y="141732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 icon" id="41" name="Google Shape;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039" y="15480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/>
        </p:nvSpPr>
        <p:spPr>
          <a:xfrm>
            <a:off x="5166360" y="1463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Citizen challenges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4526280" y="21031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Panic and stress, unclear next steps, difficulty sharing an exact location, scattered information.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046720" y="1234440"/>
            <a:ext cx="3566160" cy="1874520"/>
          </a:xfrm>
          <a:prstGeom prst="roundRect">
            <a:avLst>
              <a:gd fmla="val 3902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8275320" y="1417320"/>
            <a:ext cx="502920" cy="5029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obile icon" id="46" name="Google Shape;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6079" y="15480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8915400" y="1463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mobile?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8275320" y="21031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Phones are always carried, location-aware and able to send notifications and media.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48640" y="3383280"/>
            <a:ext cx="7040880" cy="2926080"/>
          </a:xfrm>
          <a:prstGeom prst="roundRect">
            <a:avLst>
              <a:gd fmla="val 25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822960" y="3520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22960" y="4023360"/>
            <a:ext cx="329184" cy="32918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 txBox="1"/>
          <p:nvPr/>
        </p:nvSpPr>
        <p:spPr>
          <a:xfrm>
            <a:off x="822960" y="40233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1325880" y="4023360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Provide a simple emergency-related mobile interface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22960" y="4471416"/>
            <a:ext cx="329184" cy="32918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 txBox="1"/>
          <p:nvPr/>
        </p:nvSpPr>
        <p:spPr>
          <a:xfrm>
            <a:off x="822960" y="44714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1325880" y="4471416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 an SOS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22960" y="4919472"/>
            <a:ext cx="329184" cy="32918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822960" y="49194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1325880" y="4919472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 location access with user permission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22960" y="5367528"/>
            <a:ext cx="329184" cy="32918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822960" y="53675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1325880" y="5367528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Help users prepare incident information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22960" y="5815584"/>
            <a:ext cx="329184" cy="32918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822960" y="58155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1325880" y="5815584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Provide a foundation for future disaster-response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7863840" y="3383280"/>
            <a:ext cx="3776472" cy="2926080"/>
          </a:xfrm>
          <a:prstGeom prst="roundRect">
            <a:avLst>
              <a:gd fmla="val 25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8092440" y="3566160"/>
            <a:ext cx="3319272" cy="1005840"/>
          </a:xfrm>
          <a:prstGeom prst="roundRect">
            <a:avLst>
              <a:gd fmla="val 7273" name="adj"/>
            </a:avLst>
          </a:prstGeom>
          <a:solidFill>
            <a:schemeClr val="accent5">
              <a:alpha val="14902"/>
            </a:scheme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8229600" y="365760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Scattered, slow, uncertain emergency actions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9752076" y="4590288"/>
            <a:ext cx="0" cy="347472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6"/>
          <p:cNvSpPr/>
          <p:nvPr/>
        </p:nvSpPr>
        <p:spPr>
          <a:xfrm>
            <a:off x="8092440" y="4983480"/>
            <a:ext cx="3319272" cy="1097280"/>
          </a:xfrm>
          <a:prstGeom prst="roundRect">
            <a:avLst>
              <a:gd fmla="val 6667" name="adj"/>
            </a:avLst>
          </a:prstGeom>
          <a:solidFill>
            <a:schemeClr val="accent1">
              <a:alpha val="20000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8229600" y="5074920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 proposed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ResQAI: one mobile interface for SOS, location and incident details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LITERATURE REVIEW</a:t>
            </a:r>
            <a:endParaRPr sz="2600"/>
          </a:p>
        </p:txBody>
      </p:sp>
      <p:sp>
        <p:nvSpPr>
          <p:cNvPr id="79" name="Google Shape;79;p7"/>
          <p:cNvSpPr/>
          <p:nvPr/>
        </p:nvSpPr>
        <p:spPr>
          <a:xfrm>
            <a:off x="548640" y="1271016"/>
            <a:ext cx="530352" cy="530352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obile icon" id="80" name="Google Shape;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532" y="1408908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"/>
          <p:cNvSpPr txBox="1"/>
          <p:nvPr/>
        </p:nvSpPr>
        <p:spPr>
          <a:xfrm>
            <a:off x="1280160" y="1234440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Mobile applications in disaster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1280160" y="156362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Phones as the main citizen access 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48640" y="1984248"/>
            <a:ext cx="530352" cy="530352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n icon"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32" y="2122140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/>
          <p:nvPr/>
        </p:nvSpPr>
        <p:spPr>
          <a:xfrm>
            <a:off x="1280160" y="194767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Location-based services and GPS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1280160" y="227685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Position data to support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2697480"/>
            <a:ext cx="530352" cy="530352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era icon" id="88" name="Google Shape;8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532" y="283537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 txBox="1"/>
          <p:nvPr/>
        </p:nvSpPr>
        <p:spPr>
          <a:xfrm>
            <a:off x="1280160" y="2660904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Incident reporting and image sharing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1280160" y="299008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Structured details and visual evidence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48640" y="3410712"/>
            <a:ext cx="530352" cy="530352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ll icon" id="92" name="Google Shape;9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532" y="3548604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/>
          <p:nvPr/>
        </p:nvSpPr>
        <p:spPr>
          <a:xfrm>
            <a:off x="1280160" y="3374136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Notifications and digital communication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1280160" y="37033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Timely updates to 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48640" y="4123944"/>
            <a:ext cx="530352" cy="530352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hield icon" id="96" name="Google Shape;9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532" y="4261836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 txBox="1"/>
          <p:nvPr/>
        </p:nvSpPr>
        <p:spPr>
          <a:xfrm>
            <a:off x="1280160" y="4087368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Usability, connectivity, privacy, reliability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1280160" y="441655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Key design constraints in emergencies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7"/>
          <p:cNvGraphicFramePr/>
          <p:nvPr/>
        </p:nvGraphicFramePr>
        <p:xfrm>
          <a:off x="59436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{C58A4984-3159-4B3B-BEDB-8E670993FE7C}</a:tableStyleId>
              </a:tblPr>
              <a:tblGrid>
                <a:gridCol w="1691650"/>
                <a:gridCol w="1828800"/>
                <a:gridCol w="2176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22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B1220"/>
                          </a:solidFill>
                        </a:rPr>
                        <a:t>Existing Technology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22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B1220"/>
                          </a:solidFill>
                        </a:rPr>
                        <a:t>Main Purpose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22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B1220"/>
                          </a:solidFill>
                        </a:rPr>
                        <a:t>Relevance to ResQAI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Mobile Applications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Access to digital services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Central user interface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Location Services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Identify geographical position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Supports location information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Incident Reporting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Record event details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Organizes incident information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Notifications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Communicate updates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</a:rPr>
                        <a:t>Potential future alert support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A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7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fmla="val 9412" name="adj"/>
            </a:avLst>
          </a:prstGeom>
          <a:solidFill>
            <a:schemeClr val="accent1">
              <a:alpha val="18039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822960" y="502920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Project motivation: </a:t>
            </a: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combine emergency-related workflows and location information in one mobile interface.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Conceptual review of technology areas; no formal systematic literature survey was conducted.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PROPOSED SYSTEM</a:t>
            </a:r>
            <a:endParaRPr sz="2600"/>
          </a:p>
        </p:txBody>
      </p:sp>
      <p:sp>
        <p:nvSpPr>
          <p:cNvPr id="110" name="Google Shape;110;p8"/>
          <p:cNvSpPr/>
          <p:nvPr/>
        </p:nvSpPr>
        <p:spPr>
          <a:xfrm>
            <a:off x="548640" y="1234440"/>
            <a:ext cx="3383280" cy="1463040"/>
          </a:xfrm>
          <a:prstGeom prst="roundRect">
            <a:avLst>
              <a:gd fmla="val 50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731520" y="1399032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obile icon"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1517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 txBox="1"/>
          <p:nvPr/>
        </p:nvSpPr>
        <p:spPr>
          <a:xfrm>
            <a:off x="1325880" y="13990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Citizen mobile interface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731520" y="20116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Dark, high-contrast Flutter UI designed for stressful moments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114800" y="1234440"/>
            <a:ext cx="3383280" cy="1463040"/>
          </a:xfrm>
          <a:prstGeom prst="roundRect">
            <a:avLst>
              <a:gd fmla="val 50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4297680" y="1399032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 icon" id="117" name="Google Shape;11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6552" y="1517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 txBox="1"/>
          <p:nvPr/>
        </p:nvSpPr>
        <p:spPr>
          <a:xfrm>
            <a:off x="4892040" y="13990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SOS and emergency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297680" y="201168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SOS button with emergency type, headcount and medical details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48640" y="2880360"/>
            <a:ext cx="3383280" cy="1463040"/>
          </a:xfrm>
          <a:prstGeom prst="roundRect">
            <a:avLst>
              <a:gd fmla="val 50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n icon" id="122" name="Google Shape;12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" y="31638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 txBox="1"/>
          <p:nvPr/>
        </p:nvSpPr>
        <p:spPr>
          <a:xfrm>
            <a:off x="1325880" y="304495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Location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731520" y="3657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Uses device location with user permission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114800" y="2880360"/>
            <a:ext cx="3383280" cy="1463040"/>
          </a:xfrm>
          <a:prstGeom prst="roundRect">
            <a:avLst>
              <a:gd fmla="val 50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4297680" y="3044952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amera icon" id="127" name="Google Shape;12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6552" y="31638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 txBox="1"/>
          <p:nvPr/>
        </p:nvSpPr>
        <p:spPr>
          <a:xfrm>
            <a:off x="4892040" y="304495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Incident information and media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4297680" y="3657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Hazard-report entry; image selection where implemented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48640" y="4526280"/>
            <a:ext cx="3383280" cy="1463040"/>
          </a:xfrm>
          <a:prstGeom prst="roundRect">
            <a:avLst>
              <a:gd fmla="val 50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731520" y="4690872"/>
            <a:ext cx="457200" cy="457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ute icon" id="132" name="Google Shape;13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392" y="48097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 txBox="1"/>
          <p:nvPr/>
        </p:nvSpPr>
        <p:spPr>
          <a:xfrm>
            <a:off x="1325880" y="469087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Navigation and state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31520" y="53035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GoRouter screens with Riverpod-managed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114800" y="4526280"/>
            <a:ext cx="3383280" cy="1463040"/>
          </a:xfrm>
          <a:prstGeom prst="roundRect">
            <a:avLst>
              <a:gd fmla="val 5000" name="adj"/>
            </a:avLst>
          </a:prstGeom>
          <a:solidFill>
            <a:schemeClr val="dk2"/>
          </a:solidFill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297680" y="4690872"/>
            <a:ext cx="457200" cy="457200"/>
          </a:xfrm>
          <a:prstGeom prst="ellipse">
            <a:avLst/>
          </a:prstGeom>
          <a:solidFill>
            <a:schemeClr val="accent4">
              <a:alpha val="20000"/>
            </a:schemeClr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rver icon" id="137" name="Google Shape;13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6552" y="48097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4892040" y="469087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backend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4297680" y="53035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Secure backend and authorized services (planned)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772400" y="1234440"/>
            <a:ext cx="3867912" cy="1645920"/>
          </a:xfrm>
          <a:prstGeom prst="roundRect">
            <a:avLst>
              <a:gd fmla="val 4444" name="adj"/>
            </a:avLst>
          </a:prstGeom>
          <a:solidFill>
            <a:schemeClr val="accent5">
              <a:alpha val="12157"/>
            </a:scheme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8001000" y="1371600"/>
            <a:ext cx="34290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Emergency information and actions may be spread across different tools.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8"/>
          <p:cNvCxnSpPr/>
          <p:nvPr/>
        </p:nvCxnSpPr>
        <p:spPr>
          <a:xfrm>
            <a:off x="9706356" y="2926080"/>
            <a:ext cx="0" cy="36576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p8"/>
          <p:cNvSpPr/>
          <p:nvPr/>
        </p:nvSpPr>
        <p:spPr>
          <a:xfrm>
            <a:off x="7772400" y="3291840"/>
            <a:ext cx="3867912" cy="1645920"/>
          </a:xfrm>
          <a:prstGeom prst="roundRect">
            <a:avLst>
              <a:gd fmla="val 4444" name="adj"/>
            </a:avLst>
          </a:prstGeom>
          <a:solidFill>
            <a:schemeClr val="accent1">
              <a:alpha val="20000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8001000" y="3429000"/>
            <a:ext cx="34290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unified interface for supported emergency-related workflows.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772400" y="5166360"/>
            <a:ext cx="3867912" cy="822960"/>
          </a:xfrm>
          <a:prstGeom prst="roundRect">
            <a:avLst>
              <a:gd fmla="val 8889" name="adj"/>
            </a:avLst>
          </a:prstGeom>
          <a:solidFill>
            <a:schemeClr val="accent4">
              <a:alpha val="14902"/>
            </a:schemeClr>
          </a:solidFill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7955280" y="516636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 emergency-service integration is a future requirement unless verified in the implementation.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3.1 ARCHITECTURE DIAGRAM</a:t>
            </a:r>
            <a:endParaRPr sz="2600"/>
          </a:p>
        </p:txBody>
      </p:sp>
      <p:sp>
        <p:nvSpPr>
          <p:cNvPr id="154" name="Google Shape;154;p9"/>
          <p:cNvSpPr/>
          <p:nvPr/>
        </p:nvSpPr>
        <p:spPr>
          <a:xfrm>
            <a:off x="2926080" y="1188720"/>
            <a:ext cx="2926080" cy="457200"/>
          </a:xfrm>
          <a:prstGeom prst="roundRect">
            <a:avLst>
              <a:gd fmla="val 16000" name="adj"/>
            </a:avLst>
          </a:prstGeom>
          <a:solidFill>
            <a:schemeClr val="accent6">
              <a:alpha val="60000"/>
            </a:schemeClr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2926080" y="11887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Citizen / User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9"/>
          <p:cNvCxnSpPr/>
          <p:nvPr/>
        </p:nvCxnSpPr>
        <p:spPr>
          <a:xfrm>
            <a:off x="4389120" y="1645920"/>
            <a:ext cx="0" cy="18288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9"/>
          <p:cNvSpPr/>
          <p:nvPr/>
        </p:nvSpPr>
        <p:spPr>
          <a:xfrm>
            <a:off x="1463040" y="1828800"/>
            <a:ext cx="5852160" cy="502920"/>
          </a:xfrm>
          <a:prstGeom prst="roundRect">
            <a:avLst>
              <a:gd fmla="val 14545" name="adj"/>
            </a:avLst>
          </a:prstGeom>
          <a:solidFill>
            <a:schemeClr val="accent1">
              <a:alpha val="40000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1463040" y="1828800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ResQAI Mobile Application – Flutter and Dart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9"/>
          <p:cNvCxnSpPr/>
          <p:nvPr/>
        </p:nvCxnSpPr>
        <p:spPr>
          <a:xfrm>
            <a:off x="4389120" y="2331720"/>
            <a:ext cx="0" cy="18288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9"/>
          <p:cNvSpPr/>
          <p:nvPr/>
        </p:nvSpPr>
        <p:spPr>
          <a:xfrm>
            <a:off x="1463040" y="2514600"/>
            <a:ext cx="5852160" cy="457200"/>
          </a:xfrm>
          <a:prstGeom prst="roundRect">
            <a:avLst>
              <a:gd fmla="val 16000" name="adj"/>
            </a:avLst>
          </a:prstGeom>
          <a:solidFill>
            <a:schemeClr val="dk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1463040" y="251460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Application Interface and Navigation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9"/>
          <p:cNvCxnSpPr/>
          <p:nvPr/>
        </p:nvCxnSpPr>
        <p:spPr>
          <a:xfrm>
            <a:off x="4389120" y="2971800"/>
            <a:ext cx="0" cy="2286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9"/>
          <p:cNvSpPr/>
          <p:nvPr/>
        </p:nvSpPr>
        <p:spPr>
          <a:xfrm>
            <a:off x="548640" y="3200400"/>
            <a:ext cx="2377440" cy="73152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548640" y="32004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SOS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200400" y="3200400"/>
            <a:ext cx="2377440" cy="73152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3200400" y="32004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Location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852160" y="3200400"/>
            <a:ext cx="2377440" cy="73152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5852160" y="32004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Incident Reporting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4389120" y="3931920"/>
            <a:ext cx="0" cy="2286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9"/>
          <p:cNvSpPr/>
          <p:nvPr/>
        </p:nvSpPr>
        <p:spPr>
          <a:xfrm>
            <a:off x="548640" y="4160520"/>
            <a:ext cx="1426464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548640" y="4160520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Riverpod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112264" y="4160520"/>
            <a:ext cx="1426464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2112264" y="4160520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GoRouter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Navigation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675888" y="4160520"/>
            <a:ext cx="1426464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3675888" y="4160520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Geolocator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239512" y="4160520"/>
            <a:ext cx="1426464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5239512" y="4160520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Communication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803136" y="4160520"/>
            <a:ext cx="1426464" cy="868680"/>
          </a:xfrm>
          <a:prstGeom prst="roundRect">
            <a:avLst>
              <a:gd fmla="val 8421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6803136" y="4160520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Local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9"/>
          <p:cNvCxnSpPr/>
          <p:nvPr/>
        </p:nvCxnSpPr>
        <p:spPr>
          <a:xfrm>
            <a:off x="4389120" y="5029200"/>
            <a:ext cx="0" cy="27432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81" name="Google Shape;181;p9"/>
          <p:cNvSpPr/>
          <p:nvPr/>
        </p:nvSpPr>
        <p:spPr>
          <a:xfrm>
            <a:off x="548640" y="5303520"/>
            <a:ext cx="7680960" cy="777240"/>
          </a:xfrm>
          <a:prstGeom prst="roundRect">
            <a:avLst>
              <a:gd fmla="val 9412" name="adj"/>
            </a:avLst>
          </a:prstGeom>
          <a:solidFill>
            <a:schemeClr val="accent4">
              <a:alpha val="12157"/>
            </a:schemeClr>
          </a:solidFill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548640" y="53492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Backend and Authorized Emergency Services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548640" y="57607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FUTURE INTEGRATION – not claimed as implemented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503920" y="1188720"/>
            <a:ext cx="3136392" cy="4892040"/>
          </a:xfrm>
          <a:prstGeom prst="roundRect">
            <a:avLst>
              <a:gd fmla="val 2332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8732520" y="1325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How data moves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732520" y="1828800"/>
            <a:ext cx="310896" cy="310896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8732520" y="18288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9189720" y="181051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user acts on the interface (e.g. SOS, report).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732520" y="2852928"/>
            <a:ext cx="310896" cy="310896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8732520" y="28529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189720" y="283464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GoRouter opens the screen; Riverpod providers hold shared state.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732520" y="3877056"/>
            <a:ext cx="310896" cy="310896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8732520" y="38770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9189720" y="3858768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Modules request location (Geolocator) or media (image picker) with permission.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732520" y="4901184"/>
            <a:ext cx="310896" cy="310896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8732520" y="49011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9189720" y="4882896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Dio is the HTTP layer for sending data to a backend – future integration.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MODULES DESCRIPTION</a:t>
            </a:r>
            <a:endParaRPr sz="2600"/>
          </a:p>
        </p:txBody>
      </p:sp>
      <p:sp>
        <p:nvSpPr>
          <p:cNvPr id="205" name="Google Shape;205;p10"/>
          <p:cNvSpPr/>
          <p:nvPr/>
        </p:nvSpPr>
        <p:spPr>
          <a:xfrm>
            <a:off x="548640" y="1234440"/>
            <a:ext cx="5440680" cy="4937760"/>
          </a:xfrm>
          <a:prstGeom prst="roundRect">
            <a:avLst>
              <a:gd fmla="val 1481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chemeClr val="accent5">
              <a:alpha val="20000"/>
            </a:schemeClr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 icon" id="207" name="Google Shape;2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886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/>
          <p:nvPr/>
        </p:nvSpPr>
        <p:spPr>
          <a:xfrm>
            <a:off x="1508760" y="141732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4.1 MODULE 1 – SOS AND EMERGENCY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822960" y="2194560"/>
            <a:ext cx="49377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Entry point for emergency-related actions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Guides the user through the supported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 request relevant information, such as location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Clear validation and error messages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Does not claim an alert was delivered without confirmation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77240" y="4663440"/>
            <a:ext cx="4983480" cy="1280160"/>
          </a:xfrm>
          <a:prstGeom prst="roundRect">
            <a:avLst>
              <a:gd fmla="val 5714" name="adj"/>
            </a:avLst>
          </a:prstGeom>
          <a:solidFill>
            <a:schemeClr val="accent6">
              <a:alpha val="30196"/>
            </a:schemeClr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960120" y="4663440"/>
            <a:ext cx="4617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Seen in the UI: emergency-type chips (Flood, Fire, Medical, Accident, Building Collapse, Other), people count, medical-assistance toggle, Confirm SOS.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199632" y="1234440"/>
            <a:ext cx="5440680" cy="4937760"/>
          </a:xfrm>
          <a:prstGeom prst="roundRect">
            <a:avLst>
              <a:gd fmla="val 1481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428232" y="1417320"/>
            <a:ext cx="548640" cy="5486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n icon" id="214" name="Google Shape;2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0878" y="1559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 txBox="1"/>
          <p:nvPr/>
        </p:nvSpPr>
        <p:spPr>
          <a:xfrm>
            <a:off x="7159752" y="141732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4.2 MODULE 2 – LOCATION AND INCIDENT REPORTING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6473952" y="2194560"/>
            <a:ext cx="49377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location services with permission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Supports preparing incident descriptions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Supports selecting images, if implemented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be extended to submit reports via a backend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Handles denied permissions and unavailable location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428232" y="4663440"/>
            <a:ext cx="4983480" cy="1280160"/>
          </a:xfrm>
          <a:prstGeom prst="roundRect">
            <a:avLst>
              <a:gd fmla="val 5714" name="adj"/>
            </a:avLst>
          </a:prstGeom>
          <a:solidFill>
            <a:schemeClr val="accent6">
              <a:alpha val="30196"/>
            </a:schemeClr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6611112" y="4663440"/>
            <a:ext cx="4617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Seen in the UI: location-permission status line, Nearby shelters, Hospitals and Report a hazard entries.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 IMPLEMENTATION AND RESULTS  |  5.1 EXPERIMENTAL SETUP</a:t>
            </a:r>
            <a:endParaRPr sz="2600"/>
          </a:p>
        </p:txBody>
      </p:sp>
      <p:sp>
        <p:nvSpPr>
          <p:cNvPr id="226" name="Google Shape;226;p11"/>
          <p:cNvSpPr/>
          <p:nvPr/>
        </p:nvSpPr>
        <p:spPr>
          <a:xfrm>
            <a:off x="548640" y="1234440"/>
            <a:ext cx="5303520" cy="3108960"/>
          </a:xfrm>
          <a:prstGeom prst="roundRect">
            <a:avLst>
              <a:gd fmla="val 2353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Development environment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822960" y="1874520"/>
            <a:ext cx="4846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Flutter and Dart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 Studio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MacBook development machine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Android emulator or compatible Android device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Riverpod, GoRouter, Geolocator, Dio (where applicable)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6126480" y="1234440"/>
            <a:ext cx="5513832" cy="3108960"/>
          </a:xfrm>
          <a:prstGeom prst="roundRect">
            <a:avLst>
              <a:gd fmla="val 2353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Development process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400800" y="1874520"/>
            <a:ext cx="347472" cy="34747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6400800" y="18745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6949440" y="187452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setup and dependency configuration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400800" y="2350008"/>
            <a:ext cx="347472" cy="34747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6400800" y="23500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6949440" y="235000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 and navigation development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400800" y="2825496"/>
            <a:ext cx="347472" cy="34747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6400800" y="282549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6949440" y="28254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SOS and incident workflow development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400800" y="3300984"/>
            <a:ext cx="347472" cy="34747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6400800" y="33009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6949440" y="330098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Location and permission handling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400800" y="3776472"/>
            <a:ext cx="347472" cy="34747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6400800" y="37764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6949440" y="377647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Build verification and functional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48640" y="4572000"/>
            <a:ext cx="2286000" cy="1097280"/>
          </a:xfrm>
          <a:prstGeom prst="roundRect">
            <a:avLst>
              <a:gd fmla="val 6667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640080" y="4663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Development Machine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640080" y="50292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MacBook · VS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1"/>
          <p:cNvCxnSpPr/>
          <p:nvPr/>
        </p:nvCxnSpPr>
        <p:spPr>
          <a:xfrm>
            <a:off x="2834640" y="5120640"/>
            <a:ext cx="64008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p11"/>
          <p:cNvSpPr/>
          <p:nvPr/>
        </p:nvSpPr>
        <p:spPr>
          <a:xfrm>
            <a:off x="3474720" y="4572000"/>
            <a:ext cx="2286000" cy="1097280"/>
          </a:xfrm>
          <a:prstGeom prst="roundRect">
            <a:avLst>
              <a:gd fmla="val 6667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3566160" y="4663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Flutter Toolchain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3566160" y="50292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Flutter SDK · Dart · pub packages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1"/>
          <p:cNvCxnSpPr/>
          <p:nvPr/>
        </p:nvCxnSpPr>
        <p:spPr>
          <a:xfrm>
            <a:off x="5760720" y="5120640"/>
            <a:ext cx="64008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4" name="Google Shape;254;p11"/>
          <p:cNvSpPr/>
          <p:nvPr/>
        </p:nvSpPr>
        <p:spPr>
          <a:xfrm>
            <a:off x="6400800" y="4572000"/>
            <a:ext cx="2286000" cy="1097280"/>
          </a:xfrm>
          <a:prstGeom prst="roundRect">
            <a:avLst>
              <a:gd fmla="val 6667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6492240" y="4663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Debug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6492240" y="50292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Run in debug mode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1"/>
          <p:cNvCxnSpPr/>
          <p:nvPr/>
        </p:nvCxnSpPr>
        <p:spPr>
          <a:xfrm>
            <a:off x="8686800" y="5120640"/>
            <a:ext cx="64008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11"/>
          <p:cNvSpPr/>
          <p:nvPr/>
        </p:nvSpPr>
        <p:spPr>
          <a:xfrm>
            <a:off x="9326880" y="4572000"/>
            <a:ext cx="2286000" cy="1097280"/>
          </a:xfrm>
          <a:prstGeom prst="roundRect">
            <a:avLst>
              <a:gd fmla="val 6667" name="adj"/>
            </a:avLst>
          </a:prstGeom>
          <a:solidFill>
            <a:schemeClr val="accent1">
              <a:alpha val="18039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9418320" y="4663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Test Target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9418320" y="50292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Android emulator or device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Debug-mode runs are visible in the provided screenshots. Functional testing on a physical Android device is still pending.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5.2 RESULTS</a:t>
            </a:r>
            <a:endParaRPr sz="2600"/>
          </a:p>
        </p:txBody>
      </p:sp>
      <p:pic>
        <p:nvPicPr>
          <p:cNvPr descr="ResQAI home screen with SOS button" id="269" name="Google Shape;2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1812519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 txBox="1"/>
          <p:nvPr/>
        </p:nvSpPr>
        <p:spPr>
          <a:xfrm>
            <a:off x="365760" y="5193792"/>
            <a:ext cx="21782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Home Screen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QAI emergency details sheet" id="271" name="Google Shape;2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9759" y="1188720"/>
            <a:ext cx="1833613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2"/>
          <p:cNvSpPr txBox="1"/>
          <p:nvPr/>
        </p:nvSpPr>
        <p:spPr>
          <a:xfrm>
            <a:off x="2406879" y="5193792"/>
            <a:ext cx="2199373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SOS Workflow – Emergency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QAI command center dashboard overview" id="273" name="Google Shape;27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1972" y="1188720"/>
            <a:ext cx="6908651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 txBox="1"/>
          <p:nvPr/>
        </p:nvSpPr>
        <p:spPr>
          <a:xfrm>
            <a:off x="4469092" y="5193792"/>
            <a:ext cx="727441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Command-Center Dashboard (web prototype)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548640" y="5623560"/>
            <a:ext cx="2103120" cy="658368"/>
          </a:xfrm>
          <a:prstGeom prst="roundRect">
            <a:avLst>
              <a:gd fmla="val 11111" name="adj"/>
            </a:avLst>
          </a:prstGeom>
          <a:solidFill>
            <a:schemeClr val="accent3">
              <a:alpha val="12157"/>
            </a:schemeClr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 txBox="1"/>
          <p:nvPr/>
        </p:nvSpPr>
        <p:spPr>
          <a:xfrm>
            <a:off x="640080" y="562356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Application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Verified (screenshots)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788920" y="5623560"/>
            <a:ext cx="2103120" cy="658368"/>
          </a:xfrm>
          <a:prstGeom prst="roundRect">
            <a:avLst>
              <a:gd fmla="val 11111" name="adj"/>
            </a:avLst>
          </a:prstGeom>
          <a:solidFill>
            <a:schemeClr val="accent4">
              <a:alpha val="12157"/>
            </a:scheme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2880360" y="562356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Navigation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029200" y="5623560"/>
            <a:ext cx="2103120" cy="658368"/>
          </a:xfrm>
          <a:prstGeom prst="roundRect">
            <a:avLst>
              <a:gd fmla="val 11111" name="adj"/>
            </a:avLst>
          </a:prstGeom>
          <a:solidFill>
            <a:schemeClr val="accent4">
              <a:alpha val="12157"/>
            </a:scheme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5120640" y="562356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Location Functionality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7269480" y="5623560"/>
            <a:ext cx="2103120" cy="658368"/>
          </a:xfrm>
          <a:prstGeom prst="roundRect">
            <a:avLst>
              <a:gd fmla="val 11111" name="adj"/>
            </a:avLst>
          </a:prstGeom>
          <a:solidFill>
            <a:schemeClr val="accent4">
              <a:alpha val="12157"/>
            </a:scheme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7360920" y="562356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Prototype – to verify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9509760" y="5623560"/>
            <a:ext cx="2103120" cy="658368"/>
          </a:xfrm>
          <a:prstGeom prst="roundRect">
            <a:avLst>
              <a:gd fmla="val 11111" name="adj"/>
            </a:avLst>
          </a:prstGeom>
          <a:solidFill>
            <a:schemeClr val="accent4">
              <a:alpha val="12157"/>
            </a:scheme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9601200" y="562356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End-to-End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 CONCLUSION AND FUTURE WORK</a:t>
            </a:r>
            <a:endParaRPr sz="2600"/>
          </a:p>
        </p:txBody>
      </p:sp>
      <p:sp>
        <p:nvSpPr>
          <p:cNvPr id="292" name="Google Shape;292;p13"/>
          <p:cNvSpPr/>
          <p:nvPr/>
        </p:nvSpPr>
        <p:spPr>
          <a:xfrm>
            <a:off x="548640" y="1188720"/>
            <a:ext cx="5120640" cy="3657600"/>
          </a:xfrm>
          <a:prstGeom prst="roundRect">
            <a:avLst>
              <a:gd fmla="val 20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822960" y="1874520"/>
            <a:ext cx="4572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Mobile application foundation for citizen-focused disaster response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Organizes emergency workflows, location access and incident information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Modular structure supports future improvements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Reliability, privacy and clear communication are key design priorities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897880" y="1188720"/>
            <a:ext cx="5742432" cy="3657600"/>
          </a:xfrm>
          <a:prstGeom prst="roundRect">
            <a:avLst>
              <a:gd fmla="val 2000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617220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6172200" y="1828800"/>
            <a:ext cx="53035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Resolve remaining build issues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Complete functional testing on an Android device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secure backend and database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Integrate verified emergency services where authorized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Improve maps and incident visualization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Explore multilingual and accessible interfaces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Improve offline support and reliable report delivery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48640" y="5349240"/>
            <a:ext cx="2926080" cy="777240"/>
          </a:xfrm>
          <a:prstGeom prst="chevron">
            <a:avLst>
              <a:gd fmla="val 50000" name="adj"/>
            </a:avLst>
          </a:prstGeom>
          <a:solidFill>
            <a:schemeClr val="accent1">
              <a:alpha val="8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1005840" y="534924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Current Foundation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346704" y="5349240"/>
            <a:ext cx="2926080" cy="777240"/>
          </a:xfrm>
          <a:prstGeom prst="chevron">
            <a:avLst>
              <a:gd fmla="val 50000" name="adj"/>
            </a:avLst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3803904" y="534924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144768" y="5349240"/>
            <a:ext cx="2926080" cy="777240"/>
          </a:xfrm>
          <a:prstGeom prst="chevron">
            <a:avLst>
              <a:gd fmla="val 50000" name="adj"/>
            </a:avLst>
          </a:prstGeom>
          <a:solidFill>
            <a:schemeClr val="accent4">
              <a:alpha val="40000"/>
            </a:schemeClr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6601968" y="534924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942832" y="5349240"/>
            <a:ext cx="2926080" cy="777240"/>
          </a:xfrm>
          <a:prstGeom prst="chevron">
            <a:avLst>
              <a:gd fmla="val 50000" name="adj"/>
            </a:avLst>
          </a:prstGeom>
          <a:solidFill>
            <a:schemeClr val="accent6">
              <a:alpha val="40000"/>
            </a:schemeClr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9400032" y="534924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"/>
          <p:cNvSpPr txBox="1"/>
          <p:nvPr>
            <p:ph type="title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 REFERENCES AND THANK YOU</a:t>
            </a:r>
            <a:endParaRPr sz="2600"/>
          </a:p>
        </p:txBody>
      </p:sp>
      <p:sp>
        <p:nvSpPr>
          <p:cNvPr id="314" name="Google Shape;314;p14"/>
          <p:cNvSpPr/>
          <p:nvPr/>
        </p:nvSpPr>
        <p:spPr>
          <a:xfrm>
            <a:off x="548640" y="1188720"/>
            <a:ext cx="7223760" cy="4983480"/>
          </a:xfrm>
          <a:prstGeom prst="roundRect">
            <a:avLst>
              <a:gd fmla="val 1468" name="adj"/>
            </a:avLst>
          </a:prstGeom>
          <a:solidFill>
            <a:schemeClr val="dk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822960" y="1920240"/>
            <a:ext cx="6766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 Flutter Documentation –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https://docs.flutter.dev/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 Dart Documentation –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https://dart.dev/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 Riverpod Documentation –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https://riverpod.dev/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 Geolocator Package –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https://pub.dev/packages/geolocator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  GoRouter Package –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https://pub.dev/packages/go_router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  Dio Package –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https://pub.dev/packages/dio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  United Nations Office for Disaster Risk Reduction – </a:t>
            </a:r>
            <a:r>
              <a:rPr b="0" i="0" lang="en-US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https://www.undrr.org/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046720" y="1188720"/>
            <a:ext cx="3593592" cy="4983480"/>
          </a:xfrm>
          <a:prstGeom prst="roundRect">
            <a:avLst>
              <a:gd fmla="val 2036" name="adj"/>
            </a:avLst>
          </a:prstGeom>
          <a:solidFill>
            <a:schemeClr val="accent1">
              <a:alpha val="14902"/>
            </a:scheme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9253728" y="1783080"/>
            <a:ext cx="1188720" cy="11887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ands icon" id="319" name="Google Shape;31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62795" y="2092147"/>
            <a:ext cx="570586" cy="57058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 txBox="1"/>
          <p:nvPr/>
        </p:nvSpPr>
        <p:spPr>
          <a:xfrm>
            <a:off x="8046720" y="3291840"/>
            <a:ext cx="35935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8046720" y="4114800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 and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>
            <p:ph idx="4294967295" type="sldNum"/>
          </p:nvPr>
        </p:nvSpPr>
        <p:spPr>
          <a:xfrm>
            <a:off x="10972800" y="6419088"/>
            <a:ext cx="667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sQAI Dark">
  <a:themeElements>
    <a:clrScheme name="ResQAI Dark">
      <a:dk1>
        <a:srgbClr val="0B1220"/>
      </a:dk1>
      <a:lt1>
        <a:srgbClr val="FFFFFF"/>
      </a:lt1>
      <a:dk2>
        <a:srgbClr val="14213A"/>
      </a:dk2>
      <a:lt2>
        <a:srgbClr val="B6C2D4"/>
      </a:lt2>
      <a:accent1>
        <a:srgbClr val="14B8A6"/>
      </a:accent1>
      <a:accent2>
        <a:srgbClr val="22D3EE"/>
      </a:accent2>
      <a:accent3>
        <a:srgbClr val="34D399"/>
      </a:accent3>
      <a:accent4>
        <a:srgbClr val="F59E0B"/>
      </a:accent4>
      <a:accent5>
        <a:srgbClr val="EF4444"/>
      </a:accent5>
      <a:accent6>
        <a:srgbClr val="475569"/>
      </a:accent6>
      <a:hlink>
        <a:srgbClr val="22D3EE"/>
      </a:hlink>
      <a:folHlink>
        <a:srgbClr val="94A3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sQAI Dark">
  <a:themeElements>
    <a:clrScheme name="ResQAI Dark">
      <a:dk1>
        <a:srgbClr val="0B1220"/>
      </a:dk1>
      <a:lt1>
        <a:srgbClr val="FFFFFF"/>
      </a:lt1>
      <a:dk2>
        <a:srgbClr val="14213A"/>
      </a:dk2>
      <a:lt2>
        <a:srgbClr val="B6C2D4"/>
      </a:lt2>
      <a:accent1>
        <a:srgbClr val="14B8A6"/>
      </a:accent1>
      <a:accent2>
        <a:srgbClr val="22D3EE"/>
      </a:accent2>
      <a:accent3>
        <a:srgbClr val="34D399"/>
      </a:accent3>
      <a:accent4>
        <a:srgbClr val="F59E0B"/>
      </a:accent4>
      <a:accent5>
        <a:srgbClr val="EF4444"/>
      </a:accent5>
      <a:accent6>
        <a:srgbClr val="475569"/>
      </a:accent6>
      <a:hlink>
        <a:srgbClr val="22D3EE"/>
      </a:hlink>
      <a:folHlink>
        <a:srgbClr val="94A3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